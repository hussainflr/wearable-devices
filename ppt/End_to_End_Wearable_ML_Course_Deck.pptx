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End-to-End Machine Learning for Wearables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Overview</a:t>
            </a:r>
          </a:p>
        </p:txBody>
      </p:sp>
      <p:sp>
        <p:nvSpPr>
          <p:cNvPr id="9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Sensors → Data → ML → Edge Deployment → Monitoring</a:t>
            </a:r>
          </a:p>
          <a:p>
            <a:pPr/>
            <a:r>
              <a:t>Practical Wearable ML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Wearable ML Use Cases</a:t>
            </a:r>
          </a:p>
        </p:txBody>
      </p:sp>
      <p:sp>
        <p:nvSpPr>
          <p:cNvPr id="10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Activity Recognition</a:t>
            </a:r>
          </a:p>
          <a:p>
            <a:pPr/>
            <a:r>
              <a:t>Sleep Analysis</a:t>
            </a:r>
          </a:p>
          <a:p>
            <a:pPr/>
            <a:r>
              <a:t>Fall Detection</a:t>
            </a:r>
          </a:p>
          <a:p>
            <a:pPr/>
            <a:r>
              <a:t>Stress Monitoring</a:t>
            </a:r>
          </a:p>
          <a:p>
            <a:pPr/>
            <a:r>
              <a:t>Health Screening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Wearable Sensors</a:t>
            </a:r>
          </a:p>
        </p:txBody>
      </p:sp>
      <p:sp>
        <p:nvSpPr>
          <p:cNvPr id="10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Accelerometer</a:t>
            </a:r>
          </a:p>
          <a:p>
            <a:pPr/>
            <a:r>
              <a:t>Gyroscope</a:t>
            </a:r>
          </a:p>
          <a:p>
            <a:pPr/>
            <a:r>
              <a:t>PPG</a:t>
            </a:r>
          </a:p>
          <a:p>
            <a:pPr/>
            <a:r>
              <a:t>ECG</a:t>
            </a:r>
          </a:p>
          <a:p>
            <a:pPr/>
            <a:r>
              <a:t>Temperature</a:t>
            </a:r>
          </a:p>
          <a:p>
            <a:pPr/>
            <a:r>
              <a:t>GPS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Sampling Fundamentals</a:t>
            </a:r>
          </a:p>
        </p:txBody>
      </p:sp>
      <p:sp>
        <p:nvSpPr>
          <p:cNvPr id="10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Sampling Rate (Hz)</a:t>
            </a:r>
          </a:p>
          <a:p>
            <a:pPr/>
            <a:r>
              <a:t>Nyquist Rule</a:t>
            </a:r>
          </a:p>
          <a:p>
            <a:pPr/>
            <a:r>
              <a:t>Aliasing</a:t>
            </a:r>
          </a:p>
          <a:p>
            <a:pPr/>
            <a:r>
              <a:t>Battery Trade-offs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Collection</a:t>
            </a:r>
          </a:p>
        </p:txBody>
      </p:sp>
      <p:sp>
        <p:nvSpPr>
          <p:cNvPr id="10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Subject Diversity</a:t>
            </a:r>
          </a:p>
          <a:p>
            <a:pPr/>
            <a:r>
              <a:t>Device Placement</a:t>
            </a:r>
          </a:p>
          <a:p>
            <a:pPr/>
            <a:r>
              <a:t>Ground Truth</a:t>
            </a:r>
          </a:p>
          <a:p>
            <a:pPr/>
            <a:r>
              <a:t>Protocols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Labeling Strategy</a:t>
            </a:r>
          </a:p>
        </p:txBody>
      </p:sp>
      <p:sp>
        <p:nvSpPr>
          <p:cNvPr id="11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Clear Definitions</a:t>
            </a:r>
          </a:p>
          <a:p>
            <a:pPr/>
            <a:r>
              <a:t>Avoid Ambiguity</a:t>
            </a:r>
          </a:p>
          <a:p>
            <a:pPr/>
            <a:r>
              <a:t>Transition Handling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Cleaning</a:t>
            </a:r>
          </a:p>
        </p:txBody>
      </p:sp>
      <p:sp>
        <p:nvSpPr>
          <p:cNvPr id="11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Outlier Removal</a:t>
            </a:r>
          </a:p>
          <a:p>
            <a:pPr/>
            <a:r>
              <a:t>Missing Data Handling</a:t>
            </a:r>
          </a:p>
          <a:p>
            <a:pPr/>
            <a:r>
              <a:t>Clock Alignment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Filtering &amp; Smoothing</a:t>
            </a:r>
          </a:p>
        </p:txBody>
      </p:sp>
      <p:sp>
        <p:nvSpPr>
          <p:cNvPr id="11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Low-pass Filters</a:t>
            </a:r>
          </a:p>
          <a:p>
            <a:pPr/>
            <a:r>
              <a:t>Noise Reduction</a:t>
            </a:r>
          </a:p>
          <a:p>
            <a:pPr/>
            <a:r>
              <a:t>Artifact Removal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Windowing</a:t>
            </a:r>
          </a:p>
        </p:txBody>
      </p:sp>
      <p:sp>
        <p:nvSpPr>
          <p:cNvPr id="12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Sliding Windows</a:t>
            </a:r>
          </a:p>
          <a:p>
            <a:pPr/>
            <a:r>
              <a:t>2–10s Typical</a:t>
            </a:r>
          </a:p>
          <a:p>
            <a:pPr/>
            <a:r>
              <a:t>50% Overlap</a:t>
            </a:r>
          </a:p>
          <a:p>
            <a:pPr/>
            <a:r>
              <a:t>Feature Extraction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Window Size Design</a:t>
            </a:r>
          </a:p>
        </p:txBody>
      </p:sp>
      <p:sp>
        <p:nvSpPr>
          <p:cNvPr id="12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Trade-off: Latency vs Accuracy</a:t>
            </a:r>
          </a:p>
          <a:p>
            <a:pPr/>
            <a:r>
              <a:t>Memory Impact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Statistical Features</a:t>
            </a:r>
          </a:p>
        </p:txBody>
      </p:sp>
      <p:sp>
        <p:nvSpPr>
          <p:cNvPr id="12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Mean</a:t>
            </a:r>
          </a:p>
          <a:p>
            <a:pPr/>
            <a:r>
              <a:t>Std</a:t>
            </a:r>
          </a:p>
          <a:p>
            <a:pPr/>
            <a:r>
              <a:t>Energy</a:t>
            </a:r>
          </a:p>
          <a:p>
            <a:pPr/>
            <a:r>
              <a:t>Entropy</a:t>
            </a:r>
          </a:p>
          <a:p>
            <a:pPr/>
            <a:r>
              <a:t>Correlations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Frequency Features</a:t>
            </a:r>
          </a:p>
        </p:txBody>
      </p:sp>
      <p:sp>
        <p:nvSpPr>
          <p:cNvPr id="13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FFT</a:t>
            </a:r>
          </a:p>
          <a:p>
            <a:pPr/>
            <a:r>
              <a:t>Spectral Energy</a:t>
            </a:r>
          </a:p>
          <a:p>
            <a:pPr/>
            <a:r>
              <a:t>Dominant Frequencies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Classical ML Models</a:t>
            </a:r>
          </a:p>
        </p:txBody>
      </p:sp>
      <p:sp>
        <p:nvSpPr>
          <p:cNvPr id="13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Logistic Regression</a:t>
            </a:r>
          </a:p>
          <a:p>
            <a:pPr/>
            <a:r>
              <a:t>Random Forest</a:t>
            </a:r>
          </a:p>
          <a:p>
            <a:pPr/>
            <a:r>
              <a:t>XGBoost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Deep Learning Models</a:t>
            </a:r>
          </a:p>
        </p:txBody>
      </p:sp>
      <p:sp>
        <p:nvSpPr>
          <p:cNvPr id="13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1D CNN</a:t>
            </a:r>
          </a:p>
          <a:p>
            <a:pPr/>
            <a:r>
              <a:t>CNN+LSTM</a:t>
            </a:r>
          </a:p>
          <a:p>
            <a:pPr/>
            <a:r>
              <a:t>Tiny Transformers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Train-Test Splitting</a:t>
            </a:r>
          </a:p>
        </p:txBody>
      </p:sp>
      <p:sp>
        <p:nvSpPr>
          <p:cNvPr id="13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Subject-wise Split</a:t>
            </a:r>
          </a:p>
          <a:p>
            <a:pPr/>
            <a:r>
              <a:t>Cross Validation</a:t>
            </a:r>
          </a:p>
          <a:p>
            <a:pPr/>
            <a:r>
              <a:t>No Data Leakage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Model Training</a:t>
            </a:r>
          </a:p>
        </p:txBody>
      </p:sp>
      <p:sp>
        <p:nvSpPr>
          <p:cNvPr id="14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Hyperparameter Tuning</a:t>
            </a:r>
          </a:p>
          <a:p>
            <a:pPr/>
            <a:r>
              <a:t>Regularization</a:t>
            </a:r>
          </a:p>
          <a:p>
            <a:pPr/>
            <a:r>
              <a:t>Early Stopping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Evaluation Metrics</a:t>
            </a:r>
          </a:p>
        </p:txBody>
      </p:sp>
      <p:sp>
        <p:nvSpPr>
          <p:cNvPr id="14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Accuracy</a:t>
            </a:r>
          </a:p>
          <a:p>
            <a:pPr/>
            <a:r>
              <a:t>F1-Score</a:t>
            </a:r>
          </a:p>
          <a:p>
            <a:pPr/>
            <a:r>
              <a:t>Recall</a:t>
            </a:r>
          </a:p>
          <a:p>
            <a:pPr/>
            <a:r>
              <a:t>MAE/RMSE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Error Analysis</a:t>
            </a:r>
          </a:p>
        </p:txBody>
      </p:sp>
      <p:sp>
        <p:nvSpPr>
          <p:cNvPr id="14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Confusion Matrix</a:t>
            </a:r>
          </a:p>
          <a:p>
            <a:pPr/>
            <a:r>
              <a:t>User-wise Analysis</a:t>
            </a:r>
          </a:p>
          <a:p>
            <a:pPr/>
            <a:r>
              <a:t>Edge Cases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Performance Improvement</a:t>
            </a:r>
          </a:p>
        </p:txBody>
      </p:sp>
      <p:sp>
        <p:nvSpPr>
          <p:cNvPr id="15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Data Augmentation</a:t>
            </a:r>
          </a:p>
          <a:p>
            <a:pPr/>
            <a:r>
              <a:t>Sensor Fusion</a:t>
            </a:r>
          </a:p>
          <a:p>
            <a:pPr/>
            <a:r>
              <a:t>Normalization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Model Compression</a:t>
            </a:r>
          </a:p>
        </p:txBody>
      </p:sp>
      <p:sp>
        <p:nvSpPr>
          <p:cNvPr id="15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Quantization</a:t>
            </a:r>
          </a:p>
          <a:p>
            <a:pPr/>
            <a:r>
              <a:t>Pruning</a:t>
            </a:r>
          </a:p>
          <a:p>
            <a:pPr/>
            <a:r>
              <a:t>Architecture Simplification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Edge Deployment</a:t>
            </a:r>
          </a:p>
        </p:txBody>
      </p:sp>
      <p:sp>
        <p:nvSpPr>
          <p:cNvPr id="15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TensorFlow Lite</a:t>
            </a:r>
          </a:p>
          <a:p>
            <a:pPr/>
            <a:r>
              <a:t>CoreML</a:t>
            </a:r>
          </a:p>
          <a:p>
            <a:pPr/>
            <a:r>
              <a:t>ONNX Runtime</a:t>
            </a:r>
          </a:p>
          <a:p>
            <a:pPr/>
            <a:r>
              <a:t>TinyML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Real-Time Pipeline</a:t>
            </a:r>
          </a:p>
        </p:txBody>
      </p:sp>
      <p:sp>
        <p:nvSpPr>
          <p:cNvPr id="16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Buffering</a:t>
            </a:r>
          </a:p>
          <a:p>
            <a:pPr/>
            <a:r>
              <a:t>Inference</a:t>
            </a:r>
          </a:p>
          <a:p>
            <a:pPr/>
            <a:r>
              <a:t>Smoothing</a:t>
            </a:r>
          </a:p>
          <a:p>
            <a:pPr/>
            <a:r>
              <a:t>Alerts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Field Testing</a:t>
            </a:r>
          </a:p>
        </p:txBody>
      </p:sp>
      <p:sp>
        <p:nvSpPr>
          <p:cNvPr id="16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Different Users</a:t>
            </a:r>
          </a:p>
          <a:p>
            <a:pPr/>
            <a:r>
              <a:t>Environments</a:t>
            </a:r>
          </a:p>
          <a:p>
            <a:pPr/>
            <a:r>
              <a:t>Battery Modes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Robustness Testing</a:t>
            </a:r>
          </a:p>
        </p:txBody>
      </p:sp>
      <p:sp>
        <p:nvSpPr>
          <p:cNvPr id="16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Cold Start</a:t>
            </a:r>
          </a:p>
          <a:p>
            <a:pPr/>
            <a:r>
              <a:t>Signal Loss</a:t>
            </a:r>
          </a:p>
          <a:p>
            <a:pPr/>
            <a:r>
              <a:t>Motion Artifacts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Production Monitoring</a:t>
            </a:r>
          </a:p>
        </p:txBody>
      </p:sp>
      <p:sp>
        <p:nvSpPr>
          <p:cNvPr id="16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Telemetry</a:t>
            </a:r>
          </a:p>
          <a:p>
            <a:pPr/>
            <a:r>
              <a:t>Confidence Drift</a:t>
            </a:r>
          </a:p>
          <a:p>
            <a:pPr/>
            <a:r>
              <a:t>Latency Logs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Continuous Learning</a:t>
            </a:r>
          </a:p>
        </p:txBody>
      </p:sp>
      <p:sp>
        <p:nvSpPr>
          <p:cNvPr id="17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Feedback Loop</a:t>
            </a:r>
          </a:p>
          <a:p>
            <a:pPr/>
            <a:r>
              <a:t>Re-training</a:t>
            </a:r>
          </a:p>
          <a:p>
            <a:pPr/>
            <a:r>
              <a:t>Versioning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Engineering Best Practices</a:t>
            </a:r>
          </a:p>
        </p:txBody>
      </p:sp>
      <p:sp>
        <p:nvSpPr>
          <p:cNvPr id="17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Privacy by Design</a:t>
            </a:r>
          </a:p>
          <a:p>
            <a:pPr/>
            <a:r>
              <a:t>Energy Awareness</a:t>
            </a:r>
          </a:p>
          <a:p>
            <a:pPr/>
            <a:r>
              <a:t>Fail-Safe Systems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Common Pitfalls</a:t>
            </a:r>
          </a:p>
        </p:txBody>
      </p:sp>
      <p:sp>
        <p:nvSpPr>
          <p:cNvPr id="17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Overfitting</a:t>
            </a:r>
          </a:p>
          <a:p>
            <a:pPr/>
            <a:r>
              <a:t>Poor Sampling</a:t>
            </a:r>
          </a:p>
          <a:p>
            <a:pPr/>
            <a:r>
              <a:t>No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Starter Project</a:t>
            </a:r>
          </a:p>
        </p:txBody>
      </p:sp>
      <p:sp>
        <p:nvSpPr>
          <p:cNvPr id="18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Activity Recognition System</a:t>
            </a:r>
          </a:p>
          <a:p>
            <a:pPr/>
            <a:r>
              <a:t>IMU → CNN → TFLite → 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Project Workflow</a:t>
            </a:r>
          </a:p>
        </p:txBody>
      </p:sp>
      <p:sp>
        <p:nvSpPr>
          <p:cNvPr id="18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Collect → Preprocess → Train → Deploy → Monitor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18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Balanced Design</a:t>
            </a:r>
          </a:p>
          <a:p>
            <a:pPr/>
            <a:r>
              <a:t>Iterative Improvement</a:t>
            </a:r>
          </a:p>
          <a:p>
            <a:pPr/>
            <a:r>
              <a:t>User-Centered ML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